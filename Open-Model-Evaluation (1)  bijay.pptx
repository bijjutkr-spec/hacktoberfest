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ommissioner"/>
      <p:regular r:id="rId201314"/>
    </p:embeddedFont>
    <p:embeddedFont>
      <p:font typeface="Commissioner Bold"/>
      <p:regular r:id="rId201315"/>
    </p:embeddedFont>
    <p:embeddedFont>
      <p:font typeface="Mona Sans Light"/>
      <p:regular r:id="rId201316"/>
    </p:embeddedFont>
    <p:embeddedFont>
      <p:font typeface="Mona Sans Medium"/>
      <p:regular r:id="rId201317"/>
    </p:embeddedFont>
    <p:embeddedFont>
      <p:font typeface="Reddit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82" y="1493838"/>
            <a:ext cx="7619809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spc="138" kern="100" dirty="0">
                <a:solidFill>
                  <a:srgbClr val="5C6370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OPEN MODEL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6582" y="1828166"/>
            <a:ext cx="7010225" cy="211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8000" spc="-160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Open Model</a:t>
            </a:r>
            <a:endParaRPr lang="en-US" sz="80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8000" spc="-160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Evaluation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6582" y="4030702"/>
            <a:ext cx="7619809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Team name: UNKNOWN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6582" y="4564221"/>
            <a:ext cx="701022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 comparative benchmark across 25 prompt categories, four models, and a five-point scoring scale. All ratings are illustrative, not measured or verified.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447"/>
            <a:ext cx="3748986" cy="142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134" kern="100" dirty="0">
                <a:solidFill>
                  <a:srgbClr val="5C6370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MODEL 01 · ILLUSTRATIVE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256"/>
            <a:ext cx="3139401" cy="1441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00" spc="-53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GPT-OSS 20B</a:t>
            </a:r>
            <a:endParaRPr lang="en-US" sz="35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500" spc="-53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illustrative total 87 of 125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5677140"/>
            <a:ext cx="3139401" cy="57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22" kern="100" dirty="0">
                <a:solidFill>
                  <a:srgbClr val="5C637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69.6% · Illustrative odd-integer ratings (1, 3, or 5), not measured or verified results.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72849" y="16867"/>
          <a:ext cx="6309262" cy="914400"/>
        </p:xfrm>
        <a:graphic>
          <a:graphicData uri="http://schemas.openxmlformats.org/drawingml/2006/table">
            <a:tbl>
              <a:tblPr/>
              <a:tblGrid>
                <a:gridCol w="2321065"/>
                <a:gridCol w="893542"/>
                <a:gridCol w="2201014"/>
                <a:gridCol w="893641"/>
              </a:tblGrid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Category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Rating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Category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Rating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Mathematics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Summarization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Probability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Creative writing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Logic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Grammar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Factual accuracy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Kannada translation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Uncertainty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Hindi translation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Multi-step problem solving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Simple explanations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Python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Cybersecurity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Debugging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Privacy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SQL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Prompt injection resistance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Java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Output constraints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HTML/CSS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Consistency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Data interpretation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Instruction following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1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JSON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447"/>
            <a:ext cx="3748986" cy="142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134" kern="100" dirty="0">
                <a:solidFill>
                  <a:srgbClr val="5C6370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MODEL 02 · ILLUSTRATIVE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256"/>
            <a:ext cx="3139401" cy="1441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00" spc="-53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GPT-OSS 120B</a:t>
            </a:r>
            <a:endParaRPr lang="en-US" sz="35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500" spc="-53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illustrative total 115 of 125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5677140"/>
            <a:ext cx="3139401" cy="57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22" kern="100" dirty="0">
                <a:solidFill>
                  <a:srgbClr val="5C637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92.0% · Illustrative highest total in this draft, not a verified benchmark result.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72849" y="16867"/>
          <a:ext cx="6309262" cy="914400"/>
        </p:xfrm>
        <a:graphic>
          <a:graphicData uri="http://schemas.openxmlformats.org/drawingml/2006/table">
            <a:tbl>
              <a:tblPr/>
              <a:tblGrid>
                <a:gridCol w="2321065"/>
                <a:gridCol w="893542"/>
                <a:gridCol w="2201014"/>
                <a:gridCol w="893641"/>
              </a:tblGrid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Category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Rating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Category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Rating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Mathematics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Summarization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Probability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Creative writing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Logic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Grammar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Factual accuracy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Kannada translation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Uncertainty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Hindi translation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Multi-step problem solving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Simple explanations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Python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Cybersecurity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Debugging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Privacy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SQL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Prompt injection resistance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Java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Output constraints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HTML/CSS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Consistency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Data interpretation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Instruction following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1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JSON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447"/>
            <a:ext cx="3748986" cy="142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134" kern="100" dirty="0">
                <a:solidFill>
                  <a:srgbClr val="5C6370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MODEL 03 · ILLUSTRATIVE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1256"/>
            <a:ext cx="3139401" cy="1441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00" spc="-53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Qwen 3.8 27B</a:t>
            </a:r>
            <a:endParaRPr lang="en-US" sz="35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500" spc="-53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illustrative total 81 of 125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09585" y="5677140"/>
            <a:ext cx="3139401" cy="57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22" kern="100" dirty="0">
                <a:solidFill>
                  <a:srgbClr val="5C637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64.8% · Illustrative mid-range ratings, not measured or verified results.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72849" y="16867"/>
          <a:ext cx="6309262" cy="914400"/>
        </p:xfrm>
        <a:graphic>
          <a:graphicData uri="http://schemas.openxmlformats.org/drawingml/2006/table">
            <a:tbl>
              <a:tblPr/>
              <a:tblGrid>
                <a:gridCol w="2321065"/>
                <a:gridCol w="893542"/>
                <a:gridCol w="2201014"/>
                <a:gridCol w="893641"/>
              </a:tblGrid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Category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Rating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Category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Rating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Mathematics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Summarization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Probability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Creative writing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Logic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Grammar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Factual accuracy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Kannada translation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Uncertainty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Hindi translation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Multi-step problem solving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Simple explanations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Python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Cybersecurity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Debugging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Privacy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SQL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Prompt injection resistance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Java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Output constraints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HTML/CSS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Consistency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Data interpretation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Instruction following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1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JSON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5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148341" marR="148341" marT="79115" marB="791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3748986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spc="138" kern="100" dirty="0">
                <a:solidFill>
                  <a:srgbClr val="5C6370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MODEL 04 · ILLUSTRATIVE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3139401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54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Gemma 4 26B A4B IT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spc="-54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illustrative total 71 of 125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5857200"/>
            <a:ext cx="313940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5C637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56.8% · Illustrative lowest total in this draft, pending validation.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264" y="781447"/>
          <a:ext cx="7528431" cy="914400"/>
        </p:xfrm>
        <a:graphic>
          <a:graphicData uri="http://schemas.openxmlformats.org/drawingml/2006/table">
            <a:tbl>
              <a:tblPr/>
              <a:tblGrid>
                <a:gridCol w="3128686"/>
                <a:gridCol w="766049"/>
                <a:gridCol w="2867549"/>
                <a:gridCol w="766148"/>
              </a:tblGrid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Category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Rating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Category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A1D24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Rating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Mathematics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Summarization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Probability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Creative writing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Logic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Grammar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Factual accuracy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Kannada translation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Uncertainty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Hindi translation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Multi-step problem solving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Simple explanations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Python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Cybersecurity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Debugging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Privacy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SQL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Prompt injection resistance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1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Java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Output constraints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HTML/CSS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Consistency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Data interpretation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Instruction following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5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9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JSON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3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Illustrative total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63B46"/>
                          </a:solidFill>
                          <a:latin typeface="Commissioner" pitchFamily="34" charset="0"/>
                          <a:ea typeface="Commissioner" pitchFamily="34" charset="-122"/>
                          <a:cs typeface="Commissioner" pitchFamily="34" charset="0"/>
                        </a:rPr>
                        <a:t>71 / 125</a:t>
                      </a:r>
                      <a:endParaRPr lang="en-US" sz="1600" dirty="0">
                        <a:latin typeface="Commissioner" charset="0"/>
                        <a:ea typeface="Commissioner" charset="0"/>
                        <a:cs typeface="Commission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6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spc="138" kern="100" dirty="0">
                <a:solidFill>
                  <a:srgbClr val="5C6370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THE COMPARISON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54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One percentage box makes the comparison easy to scan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100770"/>
            <a:ext cx="4206075" cy="1215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600" spc="-92" kern="100" dirty="0">
                <a:solidFill>
                  <a:srgbClr val="B36D19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score ÷ 125 × 100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09585" y="3459123"/>
            <a:ext cx="420607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Percentage = total score ÷ 125 × 100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865384"/>
            <a:ext cx="4206075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5C637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All percentages are calculated from illustrative ratings, not measured results, and should be recalculated if the ratings change.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2028825"/>
            <a:ext cx="6309361" cy="31547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spc="138" kern="100" dirty="0">
                <a:solidFill>
                  <a:srgbClr val="5C6370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READ THE LOW 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54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The “very down” area needs evidence, not a broad verdict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40890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One overall total cannot explain why marks were deducted.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507555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792115"/>
            <a:ext cx="5257668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918321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Start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353455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Start with the lowest-scoring prompts and the exact reasons marks were deducted.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4442" y="2507555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4442" y="2792115"/>
            <a:ext cx="5257668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24442" y="2918321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Compare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24442" y="3353455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Compare category-level weaknesses, not only the overall total.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585" y="4387751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585" y="4672310"/>
            <a:ext cx="5257668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4798516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Repeat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09585" y="5233650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Repeat runs when outputs vary and keep screenshots or logs.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4442" y="4387751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24442" y="4672310"/>
            <a:ext cx="5257668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24442" y="4798516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Limit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24442" y="5233650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Avoid claiming one model is universally best from a small prompt set.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spc="138" kern="100" dirty="0">
                <a:solidFill>
                  <a:srgbClr val="5C6370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EVIDENCE BEYOND THE SCORE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54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Our read combines testing with public review signals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59719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Our own experience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1994853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Record what the team observed while running the shared prompts.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24442" y="1559719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LinkedIn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24442" y="1994853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Note recurring practitioner reactions and review themes.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3053755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Reddit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3488889"/>
            <a:ext cx="5257668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Compare community-reported strengths, gaps, and edge cases.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24442" y="3053755"/>
            <a:ext cx="525766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YouTube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24442" y="3488889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Use hands-on demonstrations as qualitative context.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585" y="4253230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5C637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Keep these signals separate from the scored benchmark so opinion does not become a mea.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498" y="1535113"/>
            <a:ext cx="12700" cy="1265436"/>
          </a:xfrm>
          <a:prstGeom prst="rect">
            <a:avLst/>
          </a:prstGeom>
          <a:solidFill>
            <a:srgbClr val="2F3A4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2794198"/>
            <a:ext cx="5486263" cy="12700"/>
          </a:xfrm>
          <a:prstGeom prst="rect">
            <a:avLst/>
          </a:prstGeom>
          <a:solidFill>
            <a:srgbClr val="2F3A4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498" y="2800548"/>
            <a:ext cx="12700" cy="1265436"/>
          </a:xfrm>
          <a:prstGeom prst="rect">
            <a:avLst/>
          </a:prstGeom>
          <a:solidFill>
            <a:srgbClr val="2F3A42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2794198"/>
            <a:ext cx="5486263" cy="12700"/>
          </a:xfrm>
          <a:prstGeom prst="rect">
            <a:avLst/>
          </a:prstGeom>
          <a:solidFill>
            <a:srgbClr val="2F3A4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238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spc="138" kern="100" dirty="0">
                <a:solidFill>
                  <a:srgbClr val="5C6370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EVIDENCE CHECKLIST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354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54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Ten sources and evidence inputs for the final version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80753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1374" y="1547178"/>
            <a:ext cx="490207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Shared 25-prompt evaluation 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48244" y="1580753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80033" y="1547178"/>
            <a:ext cx="490207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Team scoring rubric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218003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1374" y="2146459"/>
            <a:ext cx="490207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Model response screenshots or logs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48244" y="218003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80033" y="2146459"/>
            <a:ext cx="490207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Model and version records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585" y="2779316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1374" y="2745740"/>
            <a:ext cx="490207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Team’s own testing experience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48244" y="2779316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80033" y="2745740"/>
            <a:ext cx="490207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LinkedIn ratings and discussions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585" y="3378597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1374" y="3345021"/>
            <a:ext cx="490207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Reddit ratings and discussions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8244" y="3378597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80033" y="3345021"/>
            <a:ext cx="490207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YouTube hands-on reviews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585" y="3977878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1374" y="3944303"/>
            <a:ext cx="490207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Official model documentation and release notes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48244" y="3977878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339988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10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80033" y="3944303"/>
            <a:ext cx="490207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Hackathon brief and submission guidance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65139"/>
            <a:ext cx="11582110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spc="138" kern="100" dirty="0">
                <a:solidFill>
                  <a:srgbClr val="5C6370"/>
                </a:solidFill>
                <a:latin typeface="Mona Sans Medium" pitchFamily="34" charset="0"/>
                <a:ea typeface="Mona Sans Medium" pitchFamily="34" charset="-122"/>
                <a:cs typeface="Mona Sans Medium" pitchFamily="34" charset="0"/>
              </a:rPr>
              <a:t>FINAL VALIDATION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2325256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spc="-54" kern="100" dirty="0">
                <a:solidFill>
                  <a:srgbClr val="1A1D24"/>
                </a:solidFill>
                <a:latin typeface="Mona Sans Light" pitchFamily="34" charset="0"/>
                <a:ea typeface="Mona Sans Light" pitchFamily="34" charset="-122"/>
                <a:cs typeface="Mona Sans Light" pitchFamily="34" charset="0"/>
              </a:rPr>
              <a:t>Validate the scorecard before presenting it as a result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97001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A1D24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254474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41997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Confirm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3855105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Confirm exact model IDs, versions, settings, and prompt wording.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19489" y="297001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A1D24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19489" y="3254474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419489" y="341997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Attach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19489" y="3855105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Attach screenshots or logs and explain each score deduction.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394" y="2970014"/>
            <a:ext cx="83817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A1D24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394" y="3254474"/>
            <a:ext cx="3352716" cy="19050"/>
          </a:xfrm>
          <a:prstGeom prst="rect">
            <a:avLst/>
          </a:prstGeom>
          <a:solidFill>
            <a:srgbClr val="6FCFBF">
              <a:alpha val="5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29394" y="341997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A1D24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Recalculate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394" y="3855105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63B46"/>
                </a:solidFill>
                <a:latin typeface="Commissioner" pitchFamily="34" charset="0"/>
                <a:ea typeface="Commissioner" pitchFamily="34" charset="-122"/>
                <a:cs typeface="Commissioner" pitchFamily="34" charset="0"/>
              </a:rPr>
              <a:t>Recalculate totals and percentages from observed results.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585" y="4619446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23" kern="100" dirty="0">
                <a:solidFill>
                  <a:srgbClr val="5C637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0"/>
              </a:rPr>
              <a:t>The current numbers are illustrative ratings, not verified benchmark results.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2026-10-24T10:26:03Z</dcterms:created>
  <dcterms:modified xsi:type="dcterms:W3CDTF">2026-10-24T10:26:03Z</dcterms:modified>
</cp:coreProperties>
</file>